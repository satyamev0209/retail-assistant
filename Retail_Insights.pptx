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bleStyles0.xml" ContentType="application/vnd.openxmlformats-officedocument.presentationml.tableStyl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31E8B-1ED1-47D6-B22F-5EC5B65826DB}" v="2" dt="2026-01-28T07:05:55.386"/>
  </p1510:revLst>
</p1510:revInfo>
</file>

<file path=ppt/tableStyles.xml><?xml version="1.0" encoding="utf-8"?>
<a:tblStyleLst xmlns:a="http://schemas.openxmlformats.org/drawingml/2006/main" def="{5C22544A-7EE6-4342-B048-85BDC9FD1C3A}"/>
</file>

<file path=ppt/tableStyles0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-officedocument.presentationml.tableStyles" Target="tableStyles0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min PCGI" userId="d77f6bc1ed86e85c" providerId="LiveId" clId="{D9AA6905-37A4-4630-8883-9F4F4801DF00}"/>
    <pc:docChg chg="custSel modSld">
      <pc:chgData name="Admin PCGI" userId="d77f6bc1ed86e85c" providerId="LiveId" clId="{D9AA6905-37A4-4630-8883-9F4F4801DF00}" dt="2026-01-28T07:06:25.160" v="30" actId="13926"/>
      <pc:docMkLst>
        <pc:docMk/>
      </pc:docMkLst>
      <pc:sldChg chg="addSp delSp modSp mod">
        <pc:chgData name="Admin PCGI" userId="d77f6bc1ed86e85c" providerId="LiveId" clId="{D9AA6905-37A4-4630-8883-9F4F4801DF00}" dt="2026-01-28T07:06:25.160" v="30" actId="13926"/>
        <pc:sldMkLst>
          <pc:docMk/>
          <pc:sldMk cId="0" sldId="257"/>
        </pc:sldMkLst>
        <pc:spChg chg="add del mod">
          <ac:chgData name="Admin PCGI" userId="d77f6bc1ed86e85c" providerId="LiveId" clId="{D9AA6905-37A4-4630-8883-9F4F4801DF00}" dt="2026-01-28T07:05:33.716" v="2" actId="478"/>
          <ac:spMkLst>
            <pc:docMk/>
            <pc:sldMk cId="0" sldId="257"/>
            <ac:spMk id="3" creationId="{89413825-5C1C-3EEE-FC49-36944E2FDCD5}"/>
          </ac:spMkLst>
        </pc:spChg>
        <pc:spChg chg="add mod">
          <ac:chgData name="Admin PCGI" userId="d77f6bc1ed86e85c" providerId="LiveId" clId="{D9AA6905-37A4-4630-8883-9F4F4801DF00}" dt="2026-01-28T07:06:25.160" v="30" actId="13926"/>
          <ac:spMkLst>
            <pc:docMk/>
            <pc:sldMk cId="0" sldId="257"/>
            <ac:spMk id="8" creationId="{0FFFF60E-4959-D800-7351-5E4E3D9AA571}"/>
          </ac:spMkLst>
        </pc:spChg>
        <pc:spChg chg="mod">
          <ac:chgData name="Admin PCGI" userId="d77f6bc1ed86e85c" providerId="LiveId" clId="{D9AA6905-37A4-4630-8883-9F4F4801DF00}" dt="2026-01-28T07:05:48.677" v="3" actId="1076"/>
          <ac:spMkLst>
            <pc:docMk/>
            <pc:sldMk cId="0" sldId="257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743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Retail Insights Assistant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GenAI-Powered Multi-Agent System for Large-Scale Retail Analytics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</a:rPr>
              <a:t>Architecture &amp; Implementation Overview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retail organizations struggle with: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Analyzing massive datasets across multiple tables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SQL query generation from natural language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Ensuring query accuracy and data validation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Providing contextual insights from unstructured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657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system that: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Orchestrates specialized agents via LangGraph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vector search for intelligent table selection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Self-corrects queries through validation loops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accurate SQL with natural language interface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contextual summaries of complex queries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 Design</a:t>
            </a:r>
            <a:endParaRPr lang="en-US" sz="4000" dirty="0"/>
          </a:p>
        </p:txBody>
      </p:sp>
      <p:pic>
        <p:nvPicPr>
          <p:cNvPr id="3" name="Image 0" descr="/mnt/user-data/uploads/Screenshot_2026-01-28_at_10_54_27_AM.png"/>
          <p:cNvPicPr>
            <a:picLocks noChangeAspect="1"/>
          </p:cNvPicPr>
          <p:nvPr/>
        </p:nvPicPr>
        <p:blipFill>
          <a:blip r:embed="rId2"/>
          <a:srcRect l="24631" t="8941" r="19907" b="1278"/>
          <a:stretch>
            <a:fillRect/>
          </a:stretch>
        </p:blipFill>
        <p:spPr>
          <a:xfrm>
            <a:off x="457200" y="109728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16">
            <a:extLst>
              <a:ext uri="{FF2B5EF4-FFF2-40B4-BE49-F238E27FC236}">
                <a16:creationId xmlns:a16="http://schemas.microsoft.com/office/drawing/2014/main" id="{CF68B19B-3A28-4639-792B-2F98287AAD7A}"/>
              </a:ext>
            </a:extLst>
          </p:cNvPr>
          <p:cNvSpPr/>
          <p:nvPr/>
        </p:nvSpPr>
        <p:spPr>
          <a:xfrm>
            <a:off x="289560" y="719328"/>
            <a:ext cx="1097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2" name="Text 0"/>
          <p:cNvSpPr/>
          <p:nvPr/>
        </p:nvSpPr>
        <p:spPr>
          <a:xfrm>
            <a:off x="129540" y="68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Technical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" y="719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845564"/>
            <a:ext cx="9144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810" y="19735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4505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</a:rPr>
              <a:t>CSV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737360" y="1856232"/>
            <a:ext cx="32004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2148840" y="676656"/>
            <a:ext cx="1097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125980" y="7086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Ingestion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1124712"/>
            <a:ext cx="82296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1170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286000" y="15819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Ingestion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0" y="1947672"/>
            <a:ext cx="82296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9933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286000" y="24048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Profiling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0" y="2770632"/>
            <a:ext cx="82296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28163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286000" y="322783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Metadata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1856232"/>
            <a:ext cx="32004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3703320" y="667512"/>
            <a:ext cx="1280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0" y="719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Storage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86200" y="1124712"/>
            <a:ext cx="914400" cy="822960"/>
          </a:xfrm>
          <a:prstGeom prst="rect">
            <a:avLst/>
          </a:prstGeom>
          <a:solidFill>
            <a:srgbClr val="FDB81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11704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🦆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886200" y="1627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DuckDB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86200" y="2221992"/>
            <a:ext cx="914400" cy="822960"/>
          </a:xfrm>
          <a:prstGeom prst="rect">
            <a:avLst/>
          </a:prstGeom>
          <a:solidFill>
            <a:srgbClr val="8661C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26771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886200" y="2724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ChromaDB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1856232"/>
            <a:ext cx="32004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9" name="Shape 37"/>
          <p:cNvSpPr/>
          <p:nvPr/>
        </p:nvSpPr>
        <p:spPr>
          <a:xfrm>
            <a:off x="5364480" y="347472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364480" y="347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AI Environment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23560" y="576072"/>
            <a:ext cx="2103120" cy="914400"/>
          </a:xfrm>
          <a:prstGeom prst="rect">
            <a:avLst/>
          </a:prstGeom>
          <a:solidFill>
            <a:srgbClr val="00A89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6217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5676900" y="12146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LangGraph Orchestrator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23560" y="1764792"/>
            <a:ext cx="9144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1810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623560" y="2221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Summarizer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75120" y="1764792"/>
            <a:ext cx="9144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1810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6675120" y="2221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Query Agent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80760" y="2770632"/>
            <a:ext cx="1371600" cy="914400"/>
          </a:xfrm>
          <a:prstGeom prst="rect">
            <a:avLst/>
          </a:prstGeom>
          <a:solidFill>
            <a:srgbClr val="0078D4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2816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6080760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Gemini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103120" y="397764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2011680" y="40081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Supporting Services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0" y="4251960"/>
            <a:ext cx="8229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2468880" y="47091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Session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474720" y="4251960"/>
            <a:ext cx="8229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3474720" y="47091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SQL Service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4251960"/>
            <a:ext cx="8229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4480560" y="47091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Catalog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86400" y="4251960"/>
            <a:ext cx="8229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486400" y="47091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Logging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492240" y="4251960"/>
            <a:ext cx="8229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6492240" y="47091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Security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01000" y="667512"/>
            <a:ext cx="822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8001000" y="6751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Interfaces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09560" y="1856232"/>
            <a:ext cx="73152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3" name="Shape 71"/>
          <p:cNvSpPr/>
          <p:nvPr/>
        </p:nvSpPr>
        <p:spPr>
          <a:xfrm>
            <a:off x="8092440" y="1033272"/>
            <a:ext cx="640080" cy="640080"/>
          </a:xfrm>
          <a:prstGeom prst="rect">
            <a:avLst/>
          </a:prstGeom>
          <a:solidFill>
            <a:srgbClr val="FF4B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92440" y="10789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8092440" y="149047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Streamlit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092440" y="1856232"/>
            <a:ext cx="64008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92440" y="19019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092440" y="231343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User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092440" y="2679192"/>
            <a:ext cx="640080" cy="640080"/>
          </a:xfrm>
          <a:prstGeom prst="rect">
            <a:avLst/>
          </a:prstGeom>
          <a:solidFill>
            <a:srgbClr val="107C1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92440" y="27249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8092440" y="313639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909560" y="2313432"/>
            <a:ext cx="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6355080" y="2130552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8090"/>
                </a:solidFill>
              </a:rPr>
              <a:t>Response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82880" y="525780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Data Flow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188720" y="5276088"/>
            <a:ext cx="274320" cy="109728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6" name="Text 84"/>
          <p:cNvSpPr/>
          <p:nvPr/>
        </p:nvSpPr>
        <p:spPr>
          <a:xfrm>
            <a:off x="1508760" y="52578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Primary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194560" y="5330952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2514600" y="525780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Response</a:t>
            </a:r>
            <a:endParaRPr lang="en-US" sz="800" dirty="0"/>
          </a:p>
        </p:txBody>
      </p:sp>
      <p:sp>
        <p:nvSpPr>
          <p:cNvPr id="8" name="Text 32">
            <a:extLst>
              <a:ext uri="{FF2B5EF4-FFF2-40B4-BE49-F238E27FC236}">
                <a16:creationId xmlns:a16="http://schemas.microsoft.com/office/drawing/2014/main" id="{0FFFF60E-4959-D800-7351-5E4E3D9AA571}"/>
              </a:ext>
            </a:extLst>
          </p:cNvPr>
          <p:cNvSpPr/>
          <p:nvPr/>
        </p:nvSpPr>
        <p:spPr>
          <a:xfrm>
            <a:off x="6051159" y="1053084"/>
            <a:ext cx="13633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highlight>
                  <a:srgbClr val="008080"/>
                </a:highlight>
              </a:rPr>
              <a:t>Validation Agent</a:t>
            </a:r>
            <a:endParaRPr lang="en-US" sz="900" dirty="0">
              <a:highlight>
                <a:srgbClr val="00808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Implementation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Technologies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LLM: Google Gemini (gemini-3-flash)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Agentic Framework: LangGraph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Vector DB: ChromaDB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SQL Engine: DuckDB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UI Framework: Streamlit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Session Management: In-memory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Self-correcting Query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Service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CatalogService: Vector search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SQLService: Query execution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IngestionService: CSV processing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SessionService: Temp data cleanup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Workflow Nodes: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 - Summarization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 - Table Retrieval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 - Query Processing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118610"/>
            <a:ext cx="768096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31520" y="40767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Features: ✓ State-based workflow  ✓ Vector similarity search  ✓ SQL self-correction (3 retries)  ✓ Metadata extraction &amp; indexing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6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LangGraph Workflow &amp; Query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29640"/>
            <a:ext cx="34747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29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Path 1: Summarization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6116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1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1. User uploads 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0980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09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2. Clicks 'Summarize'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5844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58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3. Workflow routes to summarize_node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30708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07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4. Gemini generates insights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5572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55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5. Return summary to 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29640"/>
            <a:ext cx="347472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929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Path 2: Query Processing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66116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661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1. User asks question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16408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64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2. Workflow routes to retrieve_tables_node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6700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667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3. ChromaDB semantic search (Top-K=3)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992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169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4. Query_node: Gemini generates SQL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67284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672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5. DuckDB executes query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17576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175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6. Validation &amp; self-correction (3x)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678680"/>
            <a:ext cx="34747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678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7. Gemini synthesizes NL answer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360" y="76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Scalability Strategy for 100GB+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6240" y="922020"/>
            <a:ext cx="393192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6240" y="9220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96240" y="9220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9120" y="15621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PySpark/Dask for preprocessing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Batch &amp; streaming ingestion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Automated data quality checks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Partitioning: date/region/product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02480" y="922020"/>
            <a:ext cx="393192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2480" y="922020"/>
            <a:ext cx="393192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602480" y="9220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Storage &amp; Indexing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85360" y="15621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Data Lake: S3/GCS (Parquet)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Warehouse: BigQuery/Snowflake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Analytics: Delta Lake/DuckDB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Vector: Managed ChromaDB/Pinecone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6240" y="3116580"/>
            <a:ext cx="393192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6240" y="3116580"/>
            <a:ext cx="39319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96240" y="31165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Retrieval 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37566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Semantic vector search (Top-K)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Metadata-based filtering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Embedding model: text-embedding-001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RAG pattern implementation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02480" y="3116580"/>
            <a:ext cx="393192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2480" y="311658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602480" y="31165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 Orchestration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85360" y="37566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LangGraph state management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Prompt templates (T=0.1)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Self-correction loop (3 retries)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• Cost optimization via caching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Monitoring &amp; Performance Optimization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24688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Query understanding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SQL correctness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Result relevance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Self-correction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4688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188720"/>
            <a:ext cx="24688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Latency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LLM response time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Vector search (&lt;100ms)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SQL execution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End-to-end &lt;3s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4688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24688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Cost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Gemini API calls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Token consumption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Storage (DuckDB/Chroma)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Session cleanup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7315200" cy="1645920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Error Handling &amp; Validation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SQL self-correction with error context feedback (up to 3 retries)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Graceful degradation when no relevant tables found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Automatic temp table cleanup per session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✓ Query logging and exception handling throughout workflow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567</Words>
  <Application>Microsoft Office PowerPoint</Application>
  <PresentationFormat>On-screen Show (16:9)</PresentationFormat>
  <Paragraphs>150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 PCGI</cp:lastModifiedBy>
  <cp:revision>2</cp:revision>
  <dcterms:created xsi:type="dcterms:W3CDTF">2026-01-28T04:40:42Z</dcterms:created>
  <dcterms:modified xsi:type="dcterms:W3CDTF">2026-01-28T07:06:29Z</dcterms:modified>
</cp:coreProperties>
</file>